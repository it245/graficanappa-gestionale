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numeri sono medie su tipografie 10-50 dipendenti. Chiedi al cliente: 'quanto tempo passa il vostro capo reparto su Excel ogni mattina?'. Lascia rispondere prima di proseguire. Se dicono &lt;2h, complimentati e di' che molti stanno peggio.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Pull quote chiave. Pausa lunga dopo la lettura. Lascia che il numero (2 ore) faccia il lavoro. Connetti: 'questa frase ce l'ha detta un capo reparto come voi'.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84080" y="0"/>
            <a:ext cx="2404872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0" y="914400"/>
            <a:ext cx="36576" cy="50292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21240" y="914400"/>
            <a:ext cx="36576" cy="50292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45720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80160"/>
            <a:ext cx="54864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8686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4A84B"/>
                </a:solidFill>
                <a:latin typeface="Calibri"/>
              </a:rPr>
              <a:t>MOSSA 37  ·  PRODUCTION SCHEDULER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868680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La pianificazione,
finalmente, in un secondo.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8686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94A3B8"/>
                </a:solidFill>
                <a:latin typeface="Calibri"/>
              </a:rPr>
              <a:t>Scheduler real-time per stampa offset e digitale.
Ricostruisce la sequenza ottimale a ogni evento di reparto.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26364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Documento riservato  ·  Aprile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00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Dodici minuti. Cinque sezioni. Una decisione.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9339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99339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Il costo invisibile dell'Excel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02996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perché la pianificazione manuale erode marginalità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9748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6207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86207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Mossa 37, in profondità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89864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logica di scheduling, criteri, motore decisionale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56616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3075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73075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Impatto operativo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6732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throughput, setup time, lead time interno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3484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9943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59943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Roadmap di adozione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63600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discovery, pilota, go-live in 4 settimane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0352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68112"/>
            <a:ext cx="7315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468112"/>
            <a:ext cx="4114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Demo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504688"/>
            <a:ext cx="5486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lo scheduler in funzione, sui vostri dati di esempio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30" name="Oval 29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699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0158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66176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30768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454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699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0158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8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95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6176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454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699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0158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995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2454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3699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0158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0768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2454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3699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0158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66176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8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536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5995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2454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7240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3699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0158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66176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30768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9536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5995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2454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3699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0158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66176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30768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6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2454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E2E8F0"/>
                </a:solidFill>
                <a:latin typeface="Calibri"/>
              </a:rPr>
              <a:t>01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7280" y="3383280"/>
            <a:ext cx="548640" cy="36576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B6CFF"/>
                </a:solidFill>
                <a:latin typeface="Calibri"/>
              </a:rPr>
              <a:t>IL COSTO INVISIBILE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38404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L'Excel non ha un prezzo.
Ma ha un conto.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621792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GRAFICA NAPPA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01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ANATOMIA DI UNA GIORNATA-TIPO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Tre numeri che misuriamo in ogni reparto stampa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17320" y="2240280"/>
            <a:ext cx="1737360" cy="17373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12672" y="2535632"/>
            <a:ext cx="1146656" cy="11466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2816352"/>
            <a:ext cx="1737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Calibri"/>
              </a:rPr>
              <a:t>2,4h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16052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scheduling manuale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tempo medio capo reparto / die</a:t>
            </a:r>
          </a:p>
        </p:txBody>
      </p:sp>
      <p:sp>
        <p:nvSpPr>
          <p:cNvPr id="13" name="Oval 12"/>
          <p:cNvSpPr/>
          <p:nvPr/>
        </p:nvSpPr>
        <p:spPr>
          <a:xfrm>
            <a:off x="5212080" y="2240280"/>
            <a:ext cx="1737360" cy="1737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07432" y="2535632"/>
            <a:ext cx="1146656" cy="11466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816352"/>
            <a:ext cx="1737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59E0B"/>
                </a:solidFill>
                <a:latin typeface="Calibri"/>
              </a:rPr>
              <a:t>8 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16052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ricalcolo / die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6177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ogni urgenza propaga su più fasi</a:t>
            </a:r>
          </a:p>
        </p:txBody>
      </p:sp>
      <p:sp>
        <p:nvSpPr>
          <p:cNvPr id="18" name="Oval 17"/>
          <p:cNvSpPr/>
          <p:nvPr/>
        </p:nvSpPr>
        <p:spPr>
          <a:xfrm>
            <a:off x="9006840" y="2240280"/>
            <a:ext cx="1737360" cy="1737360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02192" y="2535632"/>
            <a:ext cx="1146656" cy="114665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2816352"/>
            <a:ext cx="17373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2B6CFF"/>
                </a:solidFill>
                <a:latin typeface="Calibri"/>
              </a:rPr>
              <a:t>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4160520"/>
            <a:ext cx="17373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Calibri"/>
              </a:rPr>
              <a:t>OEE non sfruttato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4617720"/>
            <a:ext cx="26517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attese e setup ridondanti evitabili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212080"/>
            <a:ext cx="11091672" cy="109728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4A84B"/>
                </a:solidFill>
                <a:latin typeface="Calibri"/>
              </a:rPr>
              <a:t>EFFETTO CASCATA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Una variazione genera setup duplicati, fasi rilavorate, lead time fuori standard, decisioni a memoria.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28" name="Oval 27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457200" cy="45720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4572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D4A84B"/>
                </a:solidFill>
                <a:latin typeface="Calibri"/>
              </a:rPr>
              <a:t>M37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178308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VOCE DAL REPARTO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Capo reparto stampa, tipografia cartotecnica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82880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0" b="1">
                <a:solidFill>
                  <a:srgbClr val="D4A84B"/>
                </a:solidFill>
                <a:latin typeface="Calibri"/>
              </a:rPr>
              <a:t>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2560320"/>
            <a:ext cx="137160" cy="274320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377440"/>
            <a:ext cx="914400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>
                <a:solidFill>
                  <a:srgbClr val="0F172A"/>
                </a:solidFill>
                <a:latin typeface="Calibri"/>
              </a:rPr>
              <a:t>La prima ora la passavo a capire cosa fosse saltato
nella notte. Adesso entro, leggo il Gantt,
e so dove intervenire.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502920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51206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Calibri"/>
              </a:rPr>
              <a:t>CAPO REPARTO STAMPA · TIPOGRAFIA 28 ADDETTI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54406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Testimonianza raccolta su un sito di produzione attivo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05</a:t>
            </a:r>
          </a:p>
        </p:txBody>
      </p:sp>
      <p:sp>
        <p:nvSpPr>
          <p:cNvPr id="18" name="Oval 17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699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0158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66176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30768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454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699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0158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8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95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6176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454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699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0158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995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2454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3699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0158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0768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2454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3699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0158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66176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8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536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5995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2454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7240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3699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0158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66176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30768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9536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5995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2454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3699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0158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66176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30768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6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2454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E2E8F0"/>
                </a:solidFill>
                <a:latin typeface="Calibri"/>
              </a:rPr>
              <a:t>02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7280" y="3383280"/>
            <a:ext cx="548640" cy="36576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B6CFF"/>
                </a:solidFill>
                <a:latin typeface="Calibri"/>
              </a:rPr>
              <a:t>LA RISPOSTA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38404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Decisioni di scheduling
delegate a un motore.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621792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GRAFICA NAPPA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MOSSA 37, IN PROFONDITÀ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Una proposizione di valore, tre vantaggi competitivi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2194560"/>
            <a:ext cx="11091672" cy="20116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18288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1">
                <a:solidFill>
                  <a:srgbClr val="0F172A"/>
                </a:solidFill>
                <a:latin typeface="Calibri"/>
              </a:rPr>
              <a:t>Acquisisce dati da ERP, macchine offset, digitali e presenze.
Ricompone la sequenza ottimale a ogni evento di reparto.
Distribuisce un Gantt unico, vivo, a tutta la filiera produttiva.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VANTAGGI COMPETITIVI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37760"/>
            <a:ext cx="36118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937760"/>
            <a:ext cx="73152" cy="146304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074920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Domain-native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32461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Regole calibrate su flussi reali di stampa cartotecnica, non astratte.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9392" y="4937760"/>
            <a:ext cx="36118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4937760"/>
            <a:ext cx="73152" cy="146304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5074920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Decisione trasparente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5532120"/>
            <a:ext cx="32461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Cinque criteri ponderati e ispezionabili. Nessun motore opaco.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4937760"/>
            <a:ext cx="361188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10144" y="4937760"/>
            <a:ext cx="73152" cy="146304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5074920"/>
            <a:ext cx="3246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Architettura non invasiva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5532120"/>
            <a:ext cx="32461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Si integra sopra il vostro stack. Nessun rip-and-replace.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07</a:t>
            </a:r>
          </a:p>
        </p:txBody>
      </p:sp>
      <p:sp>
        <p:nvSpPr>
          <p:cNvPr id="25" name="Oval 24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ARCHITETTURA FUNZIONALE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Quattro sorgenti · un motore decisionale · tre output · sub-secondo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INPUT REAL-TIME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246888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73152" cy="73152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221992"/>
            <a:ext cx="22128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ERP gestionale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560320"/>
            <a:ext cx="2212848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commesse + urgenze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246888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971800"/>
            <a:ext cx="73152" cy="73152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90672"/>
            <a:ext cx="22128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Macchine offset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429000"/>
            <a:ext cx="2212848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tempi reali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246888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40480"/>
            <a:ext cx="73152" cy="73152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959352"/>
            <a:ext cx="22128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Macchine digitali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297680"/>
            <a:ext cx="2212848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coda di stampa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09160"/>
            <a:ext cx="246888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09160"/>
            <a:ext cx="73152" cy="73152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28032"/>
            <a:ext cx="22128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Calendari reparto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166360"/>
            <a:ext cx="2212848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disponibilità · opzionale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31920" y="3017520"/>
            <a:ext cx="2286000" cy="182880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15468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D4A84B"/>
                </a:solidFill>
                <a:latin typeface="Calibri"/>
              </a:rPr>
              <a:t>MOTORE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3474720"/>
            <a:ext cx="2103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Mossa 37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34840" y="4023360"/>
            <a:ext cx="12801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4114800"/>
            <a:ext cx="2103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D4A84B"/>
                </a:solidFill>
                <a:latin typeface="Calibri"/>
              </a:rPr>
              <a:t>&lt; 1 secondo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52628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calcolo priorità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783080"/>
            <a:ext cx="27432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Calibri"/>
              </a:rPr>
              <a:t>OUTPUT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2286000"/>
            <a:ext cx="24688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32320" y="2286000"/>
            <a:ext cx="73152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96912" y="2404872"/>
            <a:ext cx="22128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Gantt real-time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96912" y="2743200"/>
            <a:ext cx="2212848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per macchina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3200400"/>
            <a:ext cx="24688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132320" y="3200400"/>
            <a:ext cx="73152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96912" y="3319272"/>
            <a:ext cx="22128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Batch ottimizzati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96912" y="3657600"/>
            <a:ext cx="2212848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setup minimi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4114800"/>
            <a:ext cx="24688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20" y="4114800"/>
            <a:ext cx="73152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6912" y="4233672"/>
            <a:ext cx="2212848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Alert capo reparto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6912" y="4572000"/>
            <a:ext cx="2212848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colli di bottiglia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921240" y="2194560"/>
            <a:ext cx="1783080" cy="2606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12680" y="2377440"/>
            <a:ext cx="1600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1">
                <a:solidFill>
                  <a:srgbClr val="059669"/>
                </a:solidFill>
                <a:latin typeface="Calibri"/>
              </a:rPr>
              <a:t>RISULTATO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80" y="2743200"/>
            <a:ext cx="1600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3600" b="1">
                <a:solidFill>
                  <a:srgbClr val="059669"/>
                </a:solidFill>
                <a:latin typeface="Calibri"/>
              </a:rPr>
              <a:t>50+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12680" y="3383280"/>
            <a:ext cx="1600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commesse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12680" y="3657600"/>
            <a:ext cx="1600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&lt; 1 sec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104120" y="4160520"/>
            <a:ext cx="141732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2680" y="4251960"/>
            <a:ext cx="1600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vs 2 ore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12680" y="4480560"/>
            <a:ext cx="1600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Excel manuale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108960" y="2468880"/>
            <a:ext cx="822960" cy="1417320"/>
          </a:xfrm>
          <a:prstGeom prst="line">
            <a:avLst/>
          </a:prstGeom>
          <a:ln w="15875">
            <a:solidFill>
              <a:srgbClr val="94A3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108960" y="3337560"/>
            <a:ext cx="822960" cy="548640"/>
          </a:xfrm>
          <a:prstGeom prst="line">
            <a:avLst/>
          </a:prstGeom>
          <a:ln w="15875">
            <a:solidFill>
              <a:srgbClr val="94A3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08960" y="3886200"/>
            <a:ext cx="822960" cy="320040"/>
          </a:xfrm>
          <a:prstGeom prst="line">
            <a:avLst/>
          </a:prstGeom>
          <a:ln w="15875">
            <a:solidFill>
              <a:srgbClr val="94A3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108960" y="3886200"/>
            <a:ext cx="822960" cy="1188720"/>
          </a:xfrm>
          <a:prstGeom prst="line">
            <a:avLst/>
          </a:prstGeom>
          <a:ln w="15875">
            <a:solidFill>
              <a:srgbClr val="94A3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217920" y="2670048"/>
            <a:ext cx="914400" cy="1216152"/>
          </a:xfrm>
          <a:prstGeom prst="line">
            <a:avLst/>
          </a:prstGeom>
          <a:ln w="15875">
            <a:solidFill>
              <a:srgbClr val="94A3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6217920" y="3584448"/>
            <a:ext cx="914400" cy="301752"/>
          </a:xfrm>
          <a:prstGeom prst="line">
            <a:avLst/>
          </a:prstGeom>
          <a:ln w="15875">
            <a:solidFill>
              <a:srgbClr val="94A3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217920" y="3886200"/>
            <a:ext cx="914400" cy="612648"/>
          </a:xfrm>
          <a:prstGeom prst="line">
            <a:avLst/>
          </a:prstGeom>
          <a:ln w="15875">
            <a:solidFill>
              <a:srgbClr val="94A3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548640" y="5349240"/>
            <a:ext cx="11091672" cy="82296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" y="544068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D4A84B"/>
                </a:solidFill>
                <a:latin typeface="Calibri"/>
              </a:rPr>
              <a:t>5 LIVELLI DI PRIORITÀ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240" y="57607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01  Urgenza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71800" y="57607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02  Ritardo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57607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03  Affinità batch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57607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04  Sequenza ciclo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555480" y="5760720"/>
            <a:ext cx="2103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05  Formato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08</a:t>
            </a:r>
          </a:p>
        </p:txBody>
      </p:sp>
      <p:sp>
        <p:nvSpPr>
          <p:cNvPr id="68" name="Oval 67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FUNZIONE DI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Cinque criteri ponderati, sommati in un solo punteggio per fase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167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8229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DC262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01952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URGENZA CONTRATTUALE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21992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+1000 punti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92024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Distanza in giorni dalla data di consegna concordata.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67712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Criticità ≤ 3 giorni · peso dominante sull'intera funzione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743200"/>
            <a:ext cx="1109167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73152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88036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816352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DEVIAZIONE DI PIANO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136392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+500 punti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Scostamento tra inizio fase atteso e orologio reale.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182112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Compensazione automatica del ritardo accumulato a monte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657600"/>
            <a:ext cx="1109167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57600"/>
            <a:ext cx="73152" cy="82296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9476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2B6CFF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3730752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AFFINITÀ DI BATCH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050792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+200 punti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4904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Compatibilità di setup con commesse adiacenti in coda.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096512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Stesso colore, fustella, lastra · setup time prossimo a zero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1109167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572000"/>
            <a:ext cx="73152" cy="82296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70916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E9F9F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4645152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DIPENDENZE DI CICLO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965192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E9F9F"/>
                </a:solidFill>
                <a:latin typeface="Calibri"/>
              </a:rPr>
              <a:t>+100 punti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466344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Pronta-disponibilità della fase a monte come prerequisito.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5010912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Vincoli di precedenza rispettati · zero attese cieche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486400"/>
            <a:ext cx="11091672" cy="822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486400"/>
            <a:ext cx="73152" cy="8229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623560"/>
            <a:ext cx="640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Calibri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5559552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AFFINITÀ DI FORMATO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5879592"/>
            <a:ext cx="2834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Calibri"/>
              </a:rPr>
              <a:t>+50 punti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5577840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F172A"/>
                </a:solidFill>
                <a:latin typeface="Calibri"/>
              </a:rPr>
              <a:t>Continuità di formato foglio sulla stessa unità produttiva.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5925312"/>
            <a:ext cx="7040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475569"/>
                </a:solidFill>
                <a:latin typeface="Calibri"/>
              </a:rPr>
              <a:t>Riduzione delle tarature · throughput più costante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09</a:t>
            </a:r>
          </a:p>
        </p:txBody>
      </p:sp>
      <p:sp>
        <p:nvSpPr>
          <p:cNvPr id="45" name="Oval 44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CASO APPLICATO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Una commessa reale · cinque criteri · un punteggio · una posizione in coda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411480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4114800" cy="45720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300" b="1">
                <a:solidFill>
                  <a:srgbClr val="D4A84B"/>
                </a:solidFill>
                <a:latin typeface="Calibri"/>
              </a:rPr>
              <a:t>COMMESSA ESEMPIO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Astuccio packaging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Settore alimentare premium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246120"/>
            <a:ext cx="36576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Quantità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3832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13.800 fg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404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Lead time residuo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8404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2 giorni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Unità produttiva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2976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linea offset principale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548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Configurazione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7548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4C + verniciatura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Stato a monte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52120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fase precedente pronta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Job adiacente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66928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Calibri"/>
              </a:rPr>
              <a:t>stessa configurazione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18288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PUNTEGGIO PER CRITERIO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37744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Urgenza · ≤ 3 giorni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2450592"/>
            <a:ext cx="3474720" cy="2560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89520" y="2450592"/>
            <a:ext cx="3300984" cy="256032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201400" y="2377440"/>
            <a:ext cx="640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2B6CFF"/>
                </a:solidFill>
                <a:latin typeface="Calibri"/>
              </a:rPr>
              <a:t>+1000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01752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Ritardo · in tempo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3090672"/>
            <a:ext cx="3474720" cy="2560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01400" y="3017520"/>
            <a:ext cx="640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94A3B8"/>
                </a:solidFill>
                <a:latin typeface="Calibr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365760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Affinità batch · stesso 4C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3730752"/>
            <a:ext cx="3474720" cy="2560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589520" y="3730752"/>
            <a:ext cx="694944" cy="256032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201400" y="3657600"/>
            <a:ext cx="640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2B6CFF"/>
                </a:solidFill>
                <a:latin typeface="Calibri"/>
              </a:rPr>
              <a:t>+200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429768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Sequenza · fase pronta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0" y="4370832"/>
            <a:ext cx="3474720" cy="2560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589520" y="4370832"/>
            <a:ext cx="347472" cy="256032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01400" y="4297680"/>
            <a:ext cx="640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2B6CFF"/>
                </a:solidFill>
                <a:latin typeface="Calibri"/>
              </a:rPr>
              <a:t>+100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0" y="4937760"/>
            <a:ext cx="24688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0F172A"/>
                </a:solidFill>
                <a:latin typeface="Calibri"/>
              </a:rPr>
              <a:t>Formato · invariato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5010912"/>
            <a:ext cx="3474720" cy="25603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89520" y="5010912"/>
            <a:ext cx="173736" cy="256032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201400" y="4937760"/>
            <a:ext cx="64008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200" b="1">
                <a:solidFill>
                  <a:srgbClr val="2B6CFF"/>
                </a:solidFill>
                <a:latin typeface="Calibri"/>
              </a:rPr>
              <a:t>+50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37760" y="5532120"/>
            <a:ext cx="6675120" cy="1828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5669280"/>
            <a:ext cx="2743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TOTALE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0" y="5623560"/>
            <a:ext cx="182880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2800" b="1">
                <a:solidFill>
                  <a:srgbClr val="0A1F44"/>
                </a:solidFill>
                <a:latin typeface="Calibri"/>
              </a:rPr>
              <a:t>1.350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6400800"/>
            <a:ext cx="11091672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Calibri"/>
              </a:rPr>
              <a:t>Score 1.350 → testa coda · ricalcolo automatico a ogni evento di pianificazione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10</a:t>
            </a:r>
          </a:p>
        </p:txBody>
      </p:sp>
      <p:sp>
        <p:nvSpPr>
          <p:cNvPr id="53" name="Oval 52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699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0158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66176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30768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454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699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0158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8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95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6176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454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699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0158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995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2454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3699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0158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0768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2454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3699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0158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66176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8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536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5995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2454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7240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3699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0158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66176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30768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9536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5995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2454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3699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0158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66176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30768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6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2454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E2E8F0"/>
                </a:solidFill>
                <a:latin typeface="Calibri"/>
              </a:rPr>
              <a:t>03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7280" y="3383280"/>
            <a:ext cx="548640" cy="36576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B6CFF"/>
                </a:solidFill>
                <a:latin typeface="Calibri"/>
              </a:rPr>
              <a:t>IMPATTO OPERATIVO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38404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Throughput, lead time, OEE.
Misurati. Non promessi.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621792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GRAFICA NAPPA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OTTO KPI DI RIFERIMENTO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Baseline misurata su sito attivo · benchmark di settore disponibile in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828800"/>
            <a:ext cx="12191695" cy="4572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2697480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2B6CFF"/>
                </a:solidFill>
                <a:latin typeface="Calibri"/>
              </a:rPr>
              <a:t>&lt; 1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Latenza ricomposizione 50+ commesse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10312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103120"/>
            <a:ext cx="269748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37744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59669"/>
                </a:solidFill>
                <a:latin typeface="Calibri"/>
              </a:rPr>
              <a:t>−95%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47472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Effort scheduling capo reparto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03120"/>
            <a:ext cx="269748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59669"/>
                </a:solidFill>
                <a:latin typeface="Calibri"/>
              </a:rPr>
              <a:t>−20%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7472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Setup time complessivo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10312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2103120"/>
            <a:ext cx="2606040" cy="548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237744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59669"/>
                </a:solidFill>
                <a:latin typeface="Calibri"/>
              </a:rPr>
              <a:t>+15%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7472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OEE attesa, stampa offset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20624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06240"/>
            <a:ext cx="2697480" cy="54864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48056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A1F44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7784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Criteri di scoring ponderati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420624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83280" y="4206240"/>
            <a:ext cx="269748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448056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F59E0B"/>
                </a:solidFill>
                <a:latin typeface="Calibri"/>
              </a:rPr>
              <a:t>Auto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557784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Batching · alert colli di bottiglia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206240"/>
            <a:ext cx="26974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206240"/>
            <a:ext cx="2697480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448056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2B6CFF"/>
                </a:solidFill>
                <a:latin typeface="Calibri"/>
              </a:rPr>
              <a:t>Real-time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5577840"/>
            <a:ext cx="2331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Gantt distribuito, sempre allineato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4206240"/>
            <a:ext cx="260604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60" y="4206240"/>
            <a:ext cx="2606040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0" y="4480560"/>
            <a:ext cx="22402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2B6CFF"/>
                </a:solidFill>
                <a:latin typeface="Calibri"/>
              </a:rPr>
              <a:t>Mobile-first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577840"/>
            <a:ext cx="224028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Tablet a bordo macchina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12</a:t>
            </a:r>
          </a:p>
        </p:txBody>
      </p:sp>
      <p:sp>
        <p:nvSpPr>
          <p:cNvPr id="43" name="Oval 42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03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QUATTRO CAMBIAMENTI MISURABILI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Confronto baseline vs steady-state · entro le prime quattro settimane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544068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20574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Effort di scheduling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1460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Pianificazione delegata al motore. Capo reparto liberato.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200400"/>
            <a:ext cx="5029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BASELINE  ~2 h / die         POST  ~15 min / die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828800"/>
            <a:ext cx="544068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73152" cy="20574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01168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Reattività al cambio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51460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Riprogrammazione automatica a ogni evento di reparto.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3200400"/>
            <a:ext cx="5029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29184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Calibri"/>
              </a:rPr>
              <a:t>BASELINE  30-60 min          POST  ~ 1 secondo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544068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73152" cy="2057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519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Setup 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Sequenze a setup compatibile, batching automatico.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440680"/>
            <a:ext cx="5029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321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BASELINE  setup ripetuti     POST  −20% tempo unità produttiva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4069080"/>
            <a:ext cx="544068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4069080"/>
            <a:ext cx="73152" cy="205740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73952" y="425196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Visibilità operativa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754880"/>
            <a:ext cx="50292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Stesso Gantt per capo reparto, operatori, direzione.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73952" y="5440680"/>
            <a:ext cx="50292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553212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E9F9F"/>
                </a:solidFill>
                <a:latin typeface="Calibri"/>
              </a:rPr>
              <a:t>BASELINE  voce + Excel       POST  Gantt vivo, distribuito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13</a:t>
            </a:r>
          </a:p>
        </p:txBody>
      </p:sp>
      <p:sp>
        <p:nvSpPr>
          <p:cNvPr id="34" name="Oval 33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3699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0158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66176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30768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0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2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24544" y="54864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93699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10158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66176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0768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952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24544" y="71323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77240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3699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0158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66176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430768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0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9952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24544" y="87782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93699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0158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66176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430768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595360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9952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24544" y="1042416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93699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10158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266176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30768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95360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759952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924544" y="1207008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93699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10158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66176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8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595360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759952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924544" y="137160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77240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3699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10158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266176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30768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595360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59952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924544" y="1536192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7240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3699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10158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66176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430768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595360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59952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924544" y="1700784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7280" y="1828800"/>
            <a:ext cx="100584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E2E8F0"/>
                </a:solidFill>
                <a:latin typeface="Calibri"/>
              </a:rPr>
              <a:t>04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7280" y="3383280"/>
            <a:ext cx="548640" cy="36576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7280" y="34747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B6CFF"/>
                </a:solidFill>
                <a:latin typeface="Calibri"/>
              </a:rPr>
              <a:t>ADOZIONE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" y="38404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F172A"/>
                </a:solidFill>
                <a:latin typeface="Calibri"/>
              </a:rPr>
              <a:t>Quattro settimane al go-live.
Una garanzia formale.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97280" y="621792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97280" y="63093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GRAFICA NAPPA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ROADMAP DI ADOZIONE · 4 SETTIMANE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Dalla firma del contratto alla prima commessa pianificata da Mossa 37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91672" cy="5486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87652" y="3108960"/>
            <a:ext cx="219456" cy="21945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697480" cy="365760"/>
          </a:xfrm>
          <a:prstGeom prst="round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S1  ·  Settimana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Audit del flusso · mapping unità produttive · cicli di lavorazione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269748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24231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Calibri"/>
              </a:rPr>
              <a:t>Documento as-is + cicli
Mappa macchine
Lista priorità</a:t>
            </a:r>
          </a:p>
        </p:txBody>
      </p:sp>
      <p:sp>
        <p:nvSpPr>
          <p:cNvPr id="18" name="Oval 17"/>
          <p:cNvSpPr/>
          <p:nvPr/>
        </p:nvSpPr>
        <p:spPr>
          <a:xfrm>
            <a:off x="4604004" y="3108960"/>
            <a:ext cx="219456" cy="219456"/>
          </a:xfrm>
          <a:prstGeom prst="ellipse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364992" y="182880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364992" y="1828800"/>
            <a:ext cx="2697480" cy="365760"/>
          </a:xfrm>
          <a:prstGeom prst="round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S2  ·  Settimana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2860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26974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Installazione · connettori · configurazione regole di scoring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64992" y="3520440"/>
            <a:ext cx="269748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36118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E9F9F"/>
                </a:solidFill>
                <a:latin typeface="Calibri"/>
              </a:rPr>
              <a:t>DELIVERABLE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3886200"/>
            <a:ext cx="24231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Calibri"/>
              </a:rPr>
              <a:t>Ambiente attivo
Connettori configurati
Utenti creati</a:t>
            </a:r>
          </a:p>
        </p:txBody>
      </p:sp>
      <p:sp>
        <p:nvSpPr>
          <p:cNvPr id="27" name="Oval 26"/>
          <p:cNvSpPr/>
          <p:nvPr/>
        </p:nvSpPr>
        <p:spPr>
          <a:xfrm>
            <a:off x="7420356" y="3108960"/>
            <a:ext cx="219456" cy="21945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81344" y="182880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81344" y="1828800"/>
            <a:ext cx="2697480" cy="3657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S3  ·  Settimana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22860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Pilot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6974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Training capo reparto + operatori · settimana di scheduling assistito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3520440"/>
            <a:ext cx="269748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4224" y="36118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Calibri"/>
              </a:rPr>
              <a:t>DELIVERABLE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3886200"/>
            <a:ext cx="24231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Calibri"/>
              </a:rPr>
              <a:t>Dashboard live
Manuale operatore
2 sessioni training</a:t>
            </a:r>
          </a:p>
        </p:txBody>
      </p:sp>
      <p:sp>
        <p:nvSpPr>
          <p:cNvPr id="36" name="Oval 35"/>
          <p:cNvSpPr/>
          <p:nvPr/>
        </p:nvSpPr>
        <p:spPr>
          <a:xfrm>
            <a:off x="10236708" y="3108960"/>
            <a:ext cx="219456" cy="21945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997696" y="1828800"/>
            <a:ext cx="2697480" cy="11887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97696" y="1828800"/>
            <a:ext cx="2697480" cy="3657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97696" y="1828800"/>
            <a:ext cx="269748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S4  ·  Settimana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0576" y="2286000"/>
            <a:ext cx="24231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Calibri"/>
              </a:rPr>
              <a:t>Go-live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0576" y="26974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475569"/>
                </a:solidFill>
                <a:latin typeface="Calibri"/>
              </a:rPr>
              <a:t>Affiancamento on-site · tuning parametri · handover formale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7696" y="3520440"/>
            <a:ext cx="2697480" cy="146304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0576" y="3611880"/>
            <a:ext cx="2423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059669"/>
                </a:solidFill>
                <a:latin typeface="Calibri"/>
              </a:rPr>
              <a:t>DELIVERABLE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3886200"/>
            <a:ext cx="24231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0F172A"/>
                </a:solidFill>
                <a:latin typeface="Calibri"/>
              </a:rPr>
              <a:t>Go-live ufficiale
Report prima settimana
90gg supporto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349240"/>
            <a:ext cx="11091672" cy="1005840"/>
          </a:xfrm>
          <a:prstGeom prst="round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4406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4A84B"/>
                </a:solidFill>
                <a:latin typeface="Calibri"/>
              </a:rPr>
              <a:t>GARANZIA TEMPI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Se non andiamo in produzione entro la 4ª settimana, il primo mese è gratuito.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15</a:t>
            </a:r>
          </a:p>
        </p:txBody>
      </p:sp>
      <p:sp>
        <p:nvSpPr>
          <p:cNvPr id="50" name="Oval 49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04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QUATTRO GARANZIE CONTRATTUALI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Impegni formalizzati in clausole, non slide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26974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69748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RIGHT TO EXIT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30 giorni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Diritto di recesso pieno nei primi 30 giorni post go-live.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828800"/>
            <a:ext cx="26974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828800"/>
            <a:ext cx="269748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05740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AFFIDABILITÀ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46888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99,5%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338328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SLA uptime piattaforma. Sotto soglia · credito automatico.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828800"/>
            <a:ext cx="26974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828800"/>
            <a:ext cx="269748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55664" y="205740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HYPER-CARE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46888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90 giorni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38328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Supporto premium incluso oltre il go-live, senza maggiorazioni.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828800"/>
            <a:ext cx="269748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97696" y="1828800"/>
            <a:ext cx="2697480" cy="54864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72016" y="205740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CONTINUOUS DELIVERY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2468880"/>
            <a:ext cx="2331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Calibri"/>
              </a:rPr>
              <a:t>Sempre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3383280"/>
            <a:ext cx="23317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Aggiornamenti continui inclusi nel canone, senza upgrade fee.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80"/>
            <a:ext cx="11091672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CANALI DI SUPPORTO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3504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risposta 4h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57150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Telefono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603504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8-18 lun-ven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7150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Chat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603504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in 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57150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Calibri"/>
              </a:rPr>
              <a:t>On-site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603504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su richiesta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16</a:t>
            </a:r>
          </a:p>
        </p:txBody>
      </p:sp>
      <p:sp>
        <p:nvSpPr>
          <p:cNvPr id="40" name="Oval 39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TRIGGER DI RICOMPOSIZIONE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Sei eventi · sei riprogrammazioni automatiche · zero intervento manuale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2103120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B6C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31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Fase terminata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L'operatore chiude → il motore propaga la fase successiva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28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70832" y="1828800"/>
            <a:ext cx="73152" cy="21031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11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331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Fase avviata in ritardo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926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Il piano si riassesta sui ritardi reali, non su quelli stimati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3024" y="1828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93024" y="1828800"/>
            <a:ext cx="73152" cy="21031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2011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331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Variazione urgenza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926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Il cliente sposta una consegna → riprogrammazione in 1 secondo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73152" cy="210312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297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617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Nuova commessa da ERP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12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L'ordine entra → posizionato in coda secondo i criteri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0832" y="4114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2" y="4114800"/>
            <a:ext cx="73152" cy="2103120"/>
          </a:xfrm>
          <a:prstGeom prst="rect">
            <a:avLst/>
          </a:prstGeom>
          <a:solidFill>
            <a:srgbClr val="0E9F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4297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E9F9F"/>
                </a:solidFill>
                <a:latin typeface="Calibr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4617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Indisponibilità macchina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5212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Fermo o manutenzione → carico ridistribuito automaticamente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93024" y="4114800"/>
            <a:ext cx="37033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93024" y="4114800"/>
            <a:ext cx="73152" cy="210312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67344" y="429768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0A1F44"/>
                </a:solidFill>
                <a:latin typeface="Calibr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67344" y="4617720"/>
            <a:ext cx="33375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Cambio finestra produttiva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67344" y="5212080"/>
            <a:ext cx="333756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475569"/>
                </a:solidFill>
                <a:latin typeface="Calibri"/>
              </a:rPr>
              <a:t>Apertura/chiusura reparto, nuova squadra → risorse ricalcolate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17</a:t>
            </a:r>
          </a:p>
        </p:txBody>
      </p:sp>
      <p:sp>
        <p:nvSpPr>
          <p:cNvPr id="40" name="Oval 39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6400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94A3B8"/>
                </a:solidFill>
                <a:latin typeface="Calibri"/>
              </a:rPr>
              <a:t>02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420624"/>
            <a:ext cx="36576" cy="36576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29260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2B6CFF"/>
                </a:solidFill>
                <a:latin typeface="Calibri"/>
              </a:rPr>
              <a:t>COSA POTETE CONFIGURARE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Calibri"/>
              </a:rPr>
              <a:t>Le regole vivono dove vivono i processi · zero codice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11091672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11091672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73152" cy="64008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47672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Calendari &amp; disponibilità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965960"/>
            <a:ext cx="7132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Orari macchina, festività, turni se presenti, pause programmate. Anche senza sistema presenze esterno.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542032"/>
            <a:ext cx="11091672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542032"/>
            <a:ext cx="73152" cy="64008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60904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Pesi dei criteri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9192"/>
            <a:ext cx="7132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Tarate i cinque livelli di priorità sul vostro modello di business.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55264"/>
            <a:ext cx="11091672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255264"/>
            <a:ext cx="73152" cy="64008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374136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Soglie di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392424"/>
            <a:ext cx="7132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Sopra-soglia di carico, lead time critico, ritardo accumulato sulla fase.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968496"/>
            <a:ext cx="11091672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968496"/>
            <a:ext cx="73152" cy="64008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87368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Affinità di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105656"/>
            <a:ext cx="7132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Definite cosa rende due commesse 'consecutive' sulla vostra unità produttiva.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81728"/>
            <a:ext cx="11091672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681728"/>
            <a:ext cx="73152" cy="64008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00600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Vincoli di precedenza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18888"/>
            <a:ext cx="7132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Sequenza obbligatoria delle fasi, eccezioni per cicli speciali.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394960"/>
            <a:ext cx="11091672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394960"/>
            <a:ext cx="73152" cy="640080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5513832"/>
            <a:ext cx="34747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Calibri"/>
              </a:rPr>
              <a:t>Forzature manuali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5532120"/>
            <a:ext cx="713232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Il capo reparto può sovrascrivere lo score quando serve. Sempre tracciato.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126480"/>
            <a:ext cx="11091672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0A1F44"/>
                </a:solidFill>
                <a:latin typeface="Calibri"/>
              </a:rPr>
              <a:t>Tutta la configurazione gestita in interfaccia owner · nessun developer richiesto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1">
                <a:solidFill>
                  <a:srgbClr val="0F172A"/>
                </a:solidFill>
                <a:latin typeface="Calibri"/>
              </a:rPr>
              <a:t>18</a:t>
            </a:r>
          </a:p>
        </p:txBody>
      </p:sp>
      <p:sp>
        <p:nvSpPr>
          <p:cNvPr id="36" name="Oval 35"/>
          <p:cNvSpPr/>
          <p:nvPr/>
        </p:nvSpPr>
        <p:spPr>
          <a:xfrm>
            <a:off x="11018520" y="6592824"/>
            <a:ext cx="54864" cy="54864"/>
          </a:xfrm>
          <a:prstGeom prst="ellipse">
            <a:avLst/>
          </a:prstGeom>
          <a:solidFill>
            <a:srgbClr val="2B6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37392" y="6492240"/>
            <a:ext cx="457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D4A84B"/>
                </a:solidFill>
                <a:latin typeface="Calibri"/>
              </a:rPr>
              <a:t>PROSSIMI PASSI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058400" cy="22860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Calibri"/>
              </a:rPr>
              <a:t>Mezza giornata. Zero impegno.
Un piano scritto.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94A3B8"/>
                </a:solidFill>
                <a:latin typeface="Calibri"/>
              </a:rPr>
              <a:t>Audit on-site del vostro flusso reale.
Poi decidete con i numeri in mano, non con la fiducia.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035040"/>
            <a:ext cx="365760" cy="36576"/>
          </a:xfrm>
          <a:prstGeom prst="rect">
            <a:avLst/>
          </a:prstGeom>
          <a:solidFill>
            <a:srgbClr val="D4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D4A84B"/>
                </a:solidFill>
                <a:latin typeface="Calibri"/>
              </a:rPr>
              <a:t>Contatti su richiesta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37960"/>
            <a:ext cx="100584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Confidenziale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