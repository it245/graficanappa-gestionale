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0"/>
            <a:ext cx="36576" cy="5029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21240" y="914400"/>
            <a:ext cx="36576" cy="50292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Calibri"/>
              </a:rPr>
              <a:t>MES  ·  MANUFACTURING EXECUTION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868680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Una sola piattaforma.
Tutta la produzione.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8686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94A3B8"/>
                </a:solidFill>
                <a:latin typeface="Calibri"/>
              </a:rPr>
              <a:t>Dal preventivo alla bolla in uscita: orchestrazione end-to-end,
dato unico, decisioni in tempo reale.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6364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Documento riservato  ·  Aprile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00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Quindici minuti. Cinque sezioni. Una decisione strategica.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9339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Frammentazione operativa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2996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perché ERP, macchine, Excel non sono un sistema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Il MES come orchestratore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9864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moduli, integrazioni, modello dati unificato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307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Impatto operativo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6732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throughput, lead time, ore-uomo, OEE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9943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9943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Roadmap di adozione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63600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quattro settimane al go-live, garanzia formale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6811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46811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Demo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0468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la piattaforma in funzione, sui vostri scenari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30" name="Oval 2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FRAMMENTAZIONE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Sistemi isolati.
Decisioni a memoria.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CINQUE SINTOMI DIAGNOSTICI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Se ne riconoscete almeno tre, il vostro stack non è un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167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ERP 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29968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Il gestionale registra le transazioni. Il dato non viaggia oltre.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1109167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Excel sprawl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98648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Pianificazione, ore, scarti, spedizioni: dieci file, dieci verità.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1109167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Macchine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67328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Le linee produttive generano telemetria. Nessuno la consuma.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1109167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Operatori senza interfaccia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636008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Foglio stampato e penna. Decisioni operative reattive.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91672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0352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864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Direzione senza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504688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Reportistica a fine mese. Decisioni necessarie real-time.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30" name="Oval 2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ORCHESTRAZIONE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Un solo modello dati.
Una sola interfaccia.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IL MES, IN PROFONDITÀ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Manufacturing Execution System verticale per packaging cartotecnico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1672" cy="20116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0F172A"/>
                </a:solidFill>
                <a:latin typeface="Calibri"/>
              </a:rPr>
              <a:t>Orchestrazione end-to-end del flusso produttivo: preventivo, scheduling,
esecuzione di reparto, magazzino, spedizione, KPI direzionali.
Un solo dato vero. In tempo reale. Su tutta la filiera.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26974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73152" cy="219456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Connesso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integrazioni native con il vostro stack esistente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4114800"/>
            <a:ext cx="26974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4114800"/>
            <a:ext cx="73152" cy="219456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438912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502920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modello dati event-driven, latenza sub-secondo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4114800"/>
            <a:ext cx="26974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4114800"/>
            <a:ext cx="73152" cy="219456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438912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Mobile-first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502920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operatori, magazzino, capo reparto, da qualunque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4114800"/>
            <a:ext cx="269748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7696" y="4114800"/>
            <a:ext cx="73152" cy="219456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4389120"/>
            <a:ext cx="2331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Verticale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5029200"/>
            <a:ext cx="2331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logiche calibrate sulla cartotecnica, non generiche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28" name="Oval 27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ARCHITETTURA MODULARE · SEI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Moduli indipendenti · modello dati condiviso · adozione progressiva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Shop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Esecuzione di reparto · avanzamento fase · annotazioni operative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28800"/>
            <a:ext cx="73152" cy="21031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11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A1F44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Direzione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26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Cruscotto KPI · ordini · ore-uomo · costo industriale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182880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011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Prestampa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926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Lavorazioni · matrici · fustelle · note tecniche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73152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Spedizione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Bolle in uscita · integrazione corrieri · tracking · esiti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4114800"/>
            <a:ext cx="73152" cy="210312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4297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E9F9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617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Magazzino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5212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Tracciabilità materia prima · QR · ricezione AI-assisted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3024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4" y="4114800"/>
            <a:ext cx="73152" cy="2103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297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617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Scheduler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5212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Mossa 37 · scheduling real-time · cinque criteri di priorità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07</a:t>
            </a:r>
          </a:p>
        </p:txBody>
      </p:sp>
      <p:sp>
        <p:nvSpPr>
          <p:cNvPr id="40" name="Oval 3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OTTO PATTERN DI INTEGRAZIONE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Architettura non invasiva · si appoggia allo stack esistente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97480" cy="365760"/>
          </a:xfrm>
          <a:prstGeom prst="round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ERP gestionale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ordini · commesse · clienti · priorità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82880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4992" y="1828800"/>
            <a:ext cx="2697480" cy="36576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Macchine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33172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telemetria di produzione · scarti · avanzamento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82880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1828800"/>
            <a:ext cx="2697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Macchine digitali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33172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coda di stampa · job · fogli prodotti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82880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97696" y="1828800"/>
            <a:ext cx="2697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Sistema presenze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33172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opzionale · integriamo il vostro o gestione interna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9184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91840"/>
            <a:ext cx="2697480" cy="36576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Corrieri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9476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spedizioni · tracking · esiti consegna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329184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64992" y="3291840"/>
            <a:ext cx="2697480" cy="365760"/>
          </a:xfrm>
          <a:prstGeom prst="round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64992" y="329184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Mobile /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379476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operatori in mobilità · notifiche push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29184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1344" y="3291840"/>
            <a:ext cx="2697480" cy="365760"/>
          </a:xfrm>
          <a:prstGeom prst="round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329184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379476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OCR documenti · classificazione · ispezione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3291840"/>
            <a:ext cx="26974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97696" y="3291840"/>
            <a:ext cx="2697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7696" y="329184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API custom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3794760"/>
            <a:ext cx="2423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qualsiasi sorgente proprietaria · connettore su misura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08</a:t>
            </a:r>
          </a:p>
        </p:txBody>
      </p:sp>
      <p:sp>
        <p:nvSpPr>
          <p:cNvPr id="42" name="Oval 41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IMPATTO OPERATIVO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Throughput, lead time, OEE.
Misurati. Non promessi.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OTTO KPI DI RIFERIMENTO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Baseline misurata su sito attivo · benchmark di settore disponibile in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828800"/>
            <a:ext cx="12191695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69748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Spreadsheet di passaggio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103120"/>
            <a:ext cx="2697480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7744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2B6CFF"/>
                </a:solidFill>
                <a:latin typeface="Calibri"/>
              </a:rPr>
              <a:t>&lt; 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7472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Latenza ricomposizione 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03120"/>
            <a:ext cx="2697480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A1F44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Stati di avanzamento fase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10312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103120"/>
            <a:ext cx="2606040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37744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2B6CFF"/>
                </a:solidFill>
                <a:latin typeface="Calibri"/>
              </a:rPr>
              <a:t>Real-time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747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Cruscotto direzionale, sempre vivo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0624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8056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Calibri"/>
              </a:rPr>
              <a:t>Auto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Ingresso merce AI-assisted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20624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4206240"/>
            <a:ext cx="2697480" cy="54864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48056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E9F9F"/>
                </a:solidFill>
                <a:latin typeface="Calibri"/>
              </a:rPr>
              <a:t>QR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57784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Tracciabilità unitaria sui bancali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20624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206240"/>
            <a:ext cx="2697480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48056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2B6CFF"/>
                </a:solidFill>
                <a:latin typeface="Calibri"/>
              </a:rPr>
              <a:t>Mobile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7784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Tablet di reparto + mobile magazzino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420624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4206240"/>
            <a:ext cx="2606040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48056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A1F44"/>
                </a:solidFill>
                <a:latin typeface="Calibri"/>
              </a:rPr>
              <a:t>1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57784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Polling notifiche operative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10</a:t>
            </a:r>
          </a:p>
        </p:txBody>
      </p:sp>
      <p:sp>
        <p:nvSpPr>
          <p:cNvPr id="43" name="Oval 42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CASO APPLICATO: MAGAZZINO AI-ASSISTED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Ricezione merce da foto bolla a giacenza in meno di un minuto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1031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73152" cy="100584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39112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Foto bolla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77440"/>
            <a:ext cx="18470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fornitore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423160"/>
            <a:ext cx="137160" cy="0"/>
          </a:xfrm>
          <a:prstGeom prst="line">
            <a:avLst/>
          </a:prstGeom>
          <a:ln w="19050">
            <a:solidFill>
              <a:srgbClr val="0E9F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88920" y="1920240"/>
            <a:ext cx="21031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920240"/>
            <a:ext cx="73152" cy="100584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039112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Chat /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377440"/>
            <a:ext cx="18470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bot riceve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2423160"/>
            <a:ext cx="137160" cy="0"/>
          </a:xfrm>
          <a:prstGeom prst="line">
            <a:avLst/>
          </a:prstGeom>
          <a:ln w="19050">
            <a:solidFill>
              <a:srgbClr val="0E9F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1920240"/>
            <a:ext cx="21031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920240"/>
            <a:ext cx="73152" cy="100584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039112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AI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377440"/>
            <a:ext cx="18470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estrae dati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2423160"/>
            <a:ext cx="137160" cy="0"/>
          </a:xfrm>
          <a:prstGeom prst="line">
            <a:avLst/>
          </a:prstGeom>
          <a:ln w="19050">
            <a:solidFill>
              <a:srgbClr val="0E9F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69480" y="1920240"/>
            <a:ext cx="21031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1920240"/>
            <a:ext cx="73152" cy="100584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2039112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Auto-carico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2377440"/>
            <a:ext cx="18470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se in anagrafica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72600" y="2423160"/>
            <a:ext cx="137160" cy="0"/>
          </a:xfrm>
          <a:prstGeom prst="line">
            <a:avLst/>
          </a:prstGeom>
          <a:ln w="19050">
            <a:solidFill>
              <a:srgbClr val="0E9F9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509760" y="1920240"/>
            <a:ext cx="21031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9760" y="1920240"/>
            <a:ext cx="73152" cy="100584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2039112"/>
            <a:ext cx="184708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Etichetta QR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2377440"/>
            <a:ext cx="184708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stampa bancale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383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B6CFF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Acquisizione: foto bolla via mobile, OCR vision-AI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B6CFF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Estrazione strutturata: codice articolo, fogli, kg, bancali, lotto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B6CFF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Carico automatico: creazione movimento + aggiornamento giacenza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B6CFF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Etichettatura: QR generato per ogni bancale, tracciabilità unitaria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B6CFF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Consumo: scarico in fase stampa, validato server-side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383280"/>
            <a:ext cx="4050791" cy="2606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5204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E9F9F"/>
                </a:solidFill>
                <a:latin typeface="Calibri"/>
              </a:rPr>
              <a:t>DELTA OPERATIVO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9319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Data entry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2519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manuale → automatico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6177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Tempo ciclo ricezione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9377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5 min → 30 sec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3035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Errori di trascrizione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6235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azzerati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126480"/>
            <a:ext cx="11091672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Calibri"/>
              </a:rPr>
              <a:t>Audit trail completo · chi · cosa · quando · da quale ordine · pronto per certificazioni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45" name="Oval 44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ADOZIONE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Quattro settimane al go-live.
Una garanzia formale.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ROADMAP DI ADOZIONE · 4 SETTIMANE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Dalla firma del contratto al primo bancale tracciato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91672" cy="5486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87652" y="3108960"/>
            <a:ext cx="219456" cy="21945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697480" cy="365760"/>
          </a:xfrm>
          <a:prstGeom prst="round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  ·  Settimana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Audit del flusso · mapping capability · cicli produttivi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Documento as-is
Mappa moduli
Cicli produttivi</a:t>
            </a:r>
          </a:p>
        </p:txBody>
      </p:sp>
      <p:sp>
        <p:nvSpPr>
          <p:cNvPr id="18" name="Oval 17"/>
          <p:cNvSpPr/>
          <p:nvPr/>
        </p:nvSpPr>
        <p:spPr>
          <a:xfrm>
            <a:off x="4604004" y="3108960"/>
            <a:ext cx="219456" cy="219456"/>
          </a:xfrm>
          <a:prstGeom prst="ellipse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64992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4992" y="1828800"/>
            <a:ext cx="2697480" cy="365760"/>
          </a:xfrm>
          <a:prstGeom prst="round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  ·  Settimana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Provisioning ambiente · connettori · utenti · permessi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4992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E9F9F"/>
                </a:solidFill>
                <a:latin typeface="Calibri"/>
              </a:rPr>
              <a:t>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Ambiente live
Connettori attivi
Utenti creati</a:t>
            </a:r>
          </a:p>
        </p:txBody>
      </p:sp>
      <p:sp>
        <p:nvSpPr>
          <p:cNvPr id="27" name="Oval 26"/>
          <p:cNvSpPr/>
          <p:nvPr/>
        </p:nvSpPr>
        <p:spPr>
          <a:xfrm>
            <a:off x="7420356" y="310896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1344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81344" y="1828800"/>
            <a:ext cx="2697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S3  ·  Settimana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Training shop floor + direzione · settimana di esecuzione assistita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DELIVERABLE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Dashboard testate
Manuale operatore
3 sessioni training</a:t>
            </a:r>
          </a:p>
        </p:txBody>
      </p:sp>
      <p:sp>
        <p:nvSpPr>
          <p:cNvPr id="36" name="Oval 35"/>
          <p:cNvSpPr/>
          <p:nvPr/>
        </p:nvSpPr>
        <p:spPr>
          <a:xfrm>
            <a:off x="10236708" y="3108960"/>
            <a:ext cx="219456" cy="21945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97696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97696" y="1828800"/>
            <a:ext cx="2697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97696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S4  ·  Settimana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Go-live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0576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Affiancamento on-site · tuning · handover formale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0576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DELIVERABLE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Go-live ufficiale
Report prima settimana
90gg supporto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349240"/>
            <a:ext cx="11091672" cy="100584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4A84B"/>
                </a:solidFill>
                <a:latin typeface="Calibri"/>
              </a:rPr>
              <a:t>GARANZIA TEMPI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Se non andiamo in produzione entro la 4ª settimana, il primo mese è gratuito.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13</a:t>
            </a:r>
          </a:p>
        </p:txBody>
      </p:sp>
      <p:sp>
        <p:nvSpPr>
          <p:cNvPr id="50" name="Oval 4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UN SOLO MODELLO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Sei capability che condividono le stesse entità · zero sincronizzazioni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337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anagrafica · ordini · cronologia consegne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21031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945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Commessa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834640"/>
            <a:ext cx="3337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ciclo · priorità · stato · scadenze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82880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21945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Fase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834640"/>
            <a:ext cx="3337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macchina · operatore · tempi · scarti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73152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805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Operatore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3337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skill · disponibilità · permessi ·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4114800"/>
            <a:ext cx="73152" cy="210312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44805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Articolo magazzino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5120640"/>
            <a:ext cx="3337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giacenza · lotti · QR · movimenti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4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3024" y="4114800"/>
            <a:ext cx="73152" cy="2103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44805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Spedizione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5120640"/>
            <a:ext cx="3337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bolla · corriere · tracking · esito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14</a:t>
            </a:r>
          </a:p>
        </p:txBody>
      </p:sp>
      <p:sp>
        <p:nvSpPr>
          <p:cNvPr id="34" name="Oval 33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SICUREZZA, AUDIT,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Quattro pilastri · pronti per audit cliente, ISO, GDPR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974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TRACCIABILITÀ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233172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Ogni evento tracciato: chi, cosa, quando, da quale ordine. Immutabile.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828800"/>
            <a:ext cx="26974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ACCESSO CONTROLLATO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46888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Permessi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291840"/>
            <a:ext cx="233172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Ruoli granulari: operatore vede solo il suo reparto, owner vede tutto.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828800"/>
            <a:ext cx="26974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DATI PERSONALI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46888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GDPR-ready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291840"/>
            <a:ext cx="233172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Registro trattamenti, retention configurabile, diritto all'oblio nativo.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828800"/>
            <a:ext cx="26974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7696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CONTINUITÀ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246888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Backup &amp; DR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3291840"/>
            <a:ext cx="233172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Snapshot quotidiani, RPO &lt; 24h, RTO &lt; 4h. Recovery testato.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00800"/>
            <a:ext cx="11091672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Calibri"/>
              </a:rPr>
              <a:t>Documentazione completa fornita: registro trattamenti · DPIA · piano sicurezza · runbook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15</a:t>
            </a:r>
          </a:p>
        </p:txBody>
      </p:sp>
      <p:sp>
        <p:nvSpPr>
          <p:cNvPr id="32" name="Oval 31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Calibri"/>
              </a:rPr>
              <a:t>PROSSIMI PASSI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Mezza giornata. Zero impegno.
Un piano scritto.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4A3B8"/>
                </a:solidFill>
                <a:latin typeface="Calibri"/>
              </a:rPr>
              <a:t>Audit on-site del vostro flusso reale.
Poi decidete con i numeri in mano, non con la fiducia.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03504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4A84B"/>
                </a:solidFill>
                <a:latin typeface="Calibri"/>
              </a:rPr>
              <a:t>Contatti su richiesta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